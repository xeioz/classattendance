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82ea2788584c6f" /><Relationship Type="http://schemas.openxmlformats.org/officeDocument/2006/relationships/extended-properties" Target="/docProps/app.xml" Id="R56f699474b3846b9" /><Relationship Type="http://schemas.openxmlformats.org/officeDocument/2006/relationships/officeDocument" Target="/ppt/presentation.xml" Id="Rc8e1483a6ca344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498f0950dd43a5"/>
  </p:sldMasterIdLst>
  <p:notesMasterIdLst>
    <p:notesMasterId xmlns:r="http://schemas.openxmlformats.org/officeDocument/2006/relationships" r:id="R8d6c0f7d24e24bff"/>
  </p:notesMasterIdLst>
  <p:sldIdLst>
    <p:sldId xmlns:r="http://schemas.openxmlformats.org/officeDocument/2006/relationships" id="256" r:id="R867c5623ca16444a"/>
    <p:sldId xmlns:r="http://schemas.openxmlformats.org/officeDocument/2006/relationships" id="257" r:id="R5836281bc0ef4bbc"/>
    <p:sldId xmlns:r="http://schemas.openxmlformats.org/officeDocument/2006/relationships" id="258" r:id="Rb175adbfee1e4dcf"/>
    <p:sldId xmlns:r="http://schemas.openxmlformats.org/officeDocument/2006/relationships" id="259" r:id="R15203659aea846f1"/>
    <p:sldId xmlns:r="http://schemas.openxmlformats.org/officeDocument/2006/relationships" id="260" r:id="R2a7169b7a7274af0"/>
    <p:sldId xmlns:r="http://schemas.openxmlformats.org/officeDocument/2006/relationships" id="261" r:id="R95e8a20b50e4487b"/>
    <p:sldId xmlns:r="http://schemas.openxmlformats.org/officeDocument/2006/relationships" id="262" r:id="R91a3033deae34cef"/>
    <p:sldId xmlns:r="http://schemas.openxmlformats.org/officeDocument/2006/relationships" id="263" r:id="R3eb9c7ec26f74fec"/>
    <p:sldId xmlns:r="http://schemas.openxmlformats.org/officeDocument/2006/relationships" id="264" r:id="Refa3d25c9f7d44f8"/>
    <p:sldId xmlns:r="http://schemas.openxmlformats.org/officeDocument/2006/relationships" id="265" r:id="R8d2f1ce0bd984fe4"/>
    <p:sldId xmlns:r="http://schemas.openxmlformats.org/officeDocument/2006/relationships" id="266" r:id="R1aaf4292578a42cf"/>
    <p:sldId xmlns:r="http://schemas.openxmlformats.org/officeDocument/2006/relationships" id="267" r:id="R30ec1a2c29d44d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33a31a41ea4215" /><Relationship Type="http://schemas.openxmlformats.org/officeDocument/2006/relationships/slideMaster" Target="/ppt/slideMasters/slideMaster1.xml" Id="R76498f0950dd43a5" /><Relationship Type="http://schemas.openxmlformats.org/officeDocument/2006/relationships/notesMaster" Target="/ppt/notesMasters/notesMaster1.xml" Id="R8d6c0f7d24e24bff" /><Relationship Type="http://schemas.openxmlformats.org/officeDocument/2006/relationships/presProps" Target="/ppt/presProps.xml" Id="Rf3b9214b85fc4f1e" /><Relationship Type="http://schemas.openxmlformats.org/officeDocument/2006/relationships/tableStyles" Target="/ppt/tableStyles.xml" Id="R0add96190e2942c5" /><Relationship Type="http://schemas.openxmlformats.org/officeDocument/2006/relationships/slide" Target="/ppt/slides/slide1.xml" Id="R867c5623ca16444a" /><Relationship Type="http://schemas.openxmlformats.org/officeDocument/2006/relationships/slide" Target="/ppt/slides/slide2.xml" Id="R5836281bc0ef4bbc" /><Relationship Type="http://schemas.openxmlformats.org/officeDocument/2006/relationships/slide" Target="/ppt/slides/slide3.xml" Id="Rb175adbfee1e4dcf" /><Relationship Type="http://schemas.openxmlformats.org/officeDocument/2006/relationships/slide" Target="/ppt/slides/slide4.xml" Id="R15203659aea846f1" /><Relationship Type="http://schemas.openxmlformats.org/officeDocument/2006/relationships/slide" Target="/ppt/slides/slide5.xml" Id="R2a7169b7a7274af0" /><Relationship Type="http://schemas.openxmlformats.org/officeDocument/2006/relationships/slide" Target="/ppt/slides/slide6.xml" Id="R95e8a20b50e4487b" /><Relationship Type="http://schemas.openxmlformats.org/officeDocument/2006/relationships/slide" Target="/ppt/slides/slide7.xml" Id="R91a3033deae34cef" /><Relationship Type="http://schemas.openxmlformats.org/officeDocument/2006/relationships/slide" Target="/ppt/slides/slide8.xml" Id="R3eb9c7ec26f74fec" /><Relationship Type="http://schemas.openxmlformats.org/officeDocument/2006/relationships/slide" Target="/ppt/slides/slide9.xml" Id="Refa3d25c9f7d44f8" /><Relationship Type="http://schemas.openxmlformats.org/officeDocument/2006/relationships/slide" Target="/ppt/slides/slide10.xml" Id="R8d2f1ce0bd984fe4" /><Relationship Type="http://schemas.openxmlformats.org/officeDocument/2006/relationships/slide" Target="/ppt/slides/slide11.xml" Id="R1aaf4292578a42cf" /><Relationship Type="http://schemas.openxmlformats.org/officeDocument/2006/relationships/slide" Target="/ppt/slides/slide12.xml" Id="R30ec1a2c29d44d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d185afb53b49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966167ef064805" /><Relationship Type="http://schemas.openxmlformats.org/officeDocument/2006/relationships/notesMaster" Target="/ppt/notesMasters/notesMaster1.xml" Id="Rd00fdb8a14d148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93ff2ebb724eb8" /><Relationship Type="http://schemas.openxmlformats.org/officeDocument/2006/relationships/notesMaster" Target="/ppt/notesMasters/notesMaster1.xml" Id="Rc38c03fac61741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1effb83e4047fb" /><Relationship Type="http://schemas.openxmlformats.org/officeDocument/2006/relationships/notesMaster" Target="/ppt/notesMasters/notesMaster1.xml" Id="R3934b8f2300442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b595b4dcdd46ae" /><Relationship Type="http://schemas.openxmlformats.org/officeDocument/2006/relationships/notesMaster" Target="/ppt/notesMasters/notesMaster1.xml" Id="R28b500114e6c47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4ee6c6c4654f01" /><Relationship Type="http://schemas.openxmlformats.org/officeDocument/2006/relationships/notesMaster" Target="/ppt/notesMasters/notesMaster1.xml" Id="Rec529bcdb0d845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2458dae82f421a" /><Relationship Type="http://schemas.openxmlformats.org/officeDocument/2006/relationships/notesMaster" Target="/ppt/notesMasters/notesMaster1.xml" Id="Rb626957c381843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88e216953d4cb0" /><Relationship Type="http://schemas.openxmlformats.org/officeDocument/2006/relationships/notesMaster" Target="/ppt/notesMasters/notesMaster1.xml" Id="R071d227451ad4b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68c50bf0df4406" /><Relationship Type="http://schemas.openxmlformats.org/officeDocument/2006/relationships/notesMaster" Target="/ppt/notesMasters/notesMaster1.xml" Id="R8033181435ce47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27d70a95064cba" /><Relationship Type="http://schemas.openxmlformats.org/officeDocument/2006/relationships/notesMaster" Target="/ppt/notesMasters/notesMaster1.xml" Id="R63eefc6ec97c49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0c670d11cc4875" /><Relationship Type="http://schemas.openxmlformats.org/officeDocument/2006/relationships/notesMaster" Target="/ppt/notesMasters/notesMaster1.xml" Id="R5e5cc376ea5b4a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ef6450f9854e27" /><Relationship Type="http://schemas.openxmlformats.org/officeDocument/2006/relationships/notesMaster" Target="/ppt/notesMasters/notesMaster1.xml" Id="R85c420d3c6a845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43fbc739c2488c" /><Relationship Type="http://schemas.openxmlformats.org/officeDocument/2006/relationships/notesMaster" Target="/ppt/notesMasters/notesMaster1.xml" Id="Rb82d304dd48a4a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defense. No institutional logo or team identity was supplied. Present the actual institution/team verbally. Source: implemented project and docs/phase-3-4.md.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present the earlier 15-minute baseline as measured evidence. Source: supplied proposal as problem context, not empirical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native application or installation requirement. Sources: README.md and docs/deployment.md.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student browser has no network acknowledgement from the teacher. Source: docs/student-guide.md.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camera is an optical data input. There is no classroom backend or cross-device sync. Sources: src/domain/checkIn.ts, src/db/db.ts, src/db/crypto.ts.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Institutional processing rules and privacy review remain required. Sources: docs/threat-model.md; https://privacy.gov.ph/implementing-rules%20regulations-data-privacy-act-2012/ ; https://cheatsheetseries.owasp.org/cheatsheets/Cryptographic_Storage_Cheat_Sheet.html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duplicate is neutral feedback, not proof of misconduct. Source: src/utils/csv.ts; src/domain/audit.ts; docs/teacher-guide.md.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measured classroom performance chart exists. Synthetic fixtures verify calculations but are not empirical results. Sources: tests/; docs/field-protocol.md. Replace pending evidence only with measured observations.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Downloads are requests, not proof of permanent file storage. Exported attendance reports contain plaintext personal data. Sources: src/utils/excel.ts; src/utils/csvExport.ts; src/db/backup.ts.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Rehearse offline readiness and camera permission before the demonstration. Do not use real student data in a public defense. Source: docs/field-protocol.md.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docs/deployment.md; docs/threat-model.md; https://webkit.org/blog/14403/updates-to-storage-policy/ . Never describe an unexecuted field check as passed.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Defensible answers are in docs/threat-model.md. The website is implemented; the physical and institutional gates require external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49520c99794c3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7c11c115cb42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3f443a2ffb412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3de69671be4ee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eff8ad43744f2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0925264a044f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2EEBD3-C080-487C-AF66-F774B8A603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89E0198-03DC-461A-BE50-9B8BEFC87A6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6CF60F6-739C-4706-BD73-F6EA456A5E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864B59-A2B9-4943-9542-CC41E07F66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9A7343D-95F8-435E-9BA3-8EACCFDBF9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C8E6683-1E9B-4B1F-87D2-E0AFB17739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1005E2-1686-4788-9F16-4E0FAAEA46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5FC3FC8-BD23-40CE-9B24-32E8D3B58EA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4FE366-3628-43F9-B597-5D346046B2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5BC5255-9D17-4E59-A19E-32BC1AC335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9148aeb43a4f48" /><Relationship Type="http://schemas.openxmlformats.org/officeDocument/2006/relationships/slideLayout" Target="/ppt/slideLayouts/slideLayout1.xml" Id="R0323c7745ea0437d" /><Relationship Type="http://schemas.openxmlformats.org/officeDocument/2006/relationships/slideLayout" Target="/ppt/slideLayouts/slideLayout2.xml" Id="R7d1f444bf95a4c97" /><Relationship Type="http://schemas.openxmlformats.org/officeDocument/2006/relationships/slideLayout" Target="/ppt/slideLayouts/slideLayout3.xml" Id="R1fa1bf6e623240c3" /><Relationship Type="http://schemas.openxmlformats.org/officeDocument/2006/relationships/slideLayout" Target="/ppt/slideLayouts/slideLayout4.xml" Id="Red147265f9e74582" /><Relationship Type="http://schemas.openxmlformats.org/officeDocument/2006/relationships/slideLayout" Target="/ppt/slideLayouts/slideLayout5.xml" Id="Rca5e00014777470e" /><Relationship Type="http://schemas.openxmlformats.org/officeDocument/2006/relationships/slideLayout" Target="/ppt/slideLayouts/slideLayout6.xml" Id="R46b669ba63534e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23c7745ea0437d"/>
    <p:sldLayoutId xmlns:r="http://schemas.openxmlformats.org/officeDocument/2006/relationships" id="2147483650" r:id="R7d1f444bf95a4c97"/>
    <p:sldLayoutId xmlns:r="http://schemas.openxmlformats.org/officeDocument/2006/relationships" id="2147483651" r:id="R1fa1bf6e623240c3"/>
    <p:sldLayoutId xmlns:r="http://schemas.openxmlformats.org/officeDocument/2006/relationships" id="2147483652" r:id="Red147265f9e74582"/>
    <p:sldLayoutId xmlns:r="http://schemas.openxmlformats.org/officeDocument/2006/relationships" id="2147483653" r:id="Rca5e00014777470e"/>
    <p:sldLayoutId xmlns:r="http://schemas.openxmlformats.org/officeDocument/2006/relationships" id="2147483654" r:id="R46b669ba63534e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a467232ca14c10" /><Relationship Type="http://schemas.openxmlformats.org/officeDocument/2006/relationships/notesSlide" Target="/ppt/notesSlides/notesSlide1.xml" Id="R34a44201fef845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4c6e19f29a4098" /><Relationship Type="http://schemas.openxmlformats.org/officeDocument/2006/relationships/notesSlide" Target="/ppt/notesSlides/notesSlide2.xml" Id="R0813a475657541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539a4966ba45df" /><Relationship Type="http://schemas.openxmlformats.org/officeDocument/2006/relationships/notesSlide" Target="/ppt/notesSlides/notesSlide3.xml" Id="Rdde1ba1aa20246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1aa42ec6e94892" /><Relationship Type="http://schemas.openxmlformats.org/officeDocument/2006/relationships/notesSlide" Target="/ppt/notesSlides/notesSlide4.xml" Id="Rf102726ff15a4f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3ad4c311fc4593" /><Relationship Type="http://schemas.openxmlformats.org/officeDocument/2006/relationships/notesSlide" Target="/ppt/notesSlides/notesSlide5.xml" Id="R156b456de5ac4d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ef82ed161d4efa" /><Relationship Type="http://schemas.openxmlformats.org/officeDocument/2006/relationships/notesSlide" Target="/ppt/notesSlides/notesSlide6.xml" Id="Ra5ee0752b6dd48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d5735738914c32" /><Relationship Type="http://schemas.openxmlformats.org/officeDocument/2006/relationships/notesSlide" Target="/ppt/notesSlides/notesSlide7.xml" Id="R817b7684237645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d5591156af45ae" /><Relationship Type="http://schemas.openxmlformats.org/officeDocument/2006/relationships/notesSlide" Target="/ppt/notesSlides/notesSlide8.xml" Id="Rd1204b6e4a2240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690b0b1e8b4540" /><Relationship Type="http://schemas.openxmlformats.org/officeDocument/2006/relationships/notesSlide" Target="/ppt/notesSlides/notesSlide9.xml" Id="R55410503435f4b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6d722d9c734ce3" /><Relationship Type="http://schemas.openxmlformats.org/officeDocument/2006/relationships/notesSlide" Target="/ppt/notesSlides/notesSlide10.xml" Id="Rfc405e09df114c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f931ee1a8d4ea1" /><Relationship Type="http://schemas.openxmlformats.org/officeDocument/2006/relationships/notesSlide" Target="/ppt/notesSlides/notesSlide11.xml" Id="R3f9addb1ac9d4f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ad553f7e5c4194" /><Relationship Type="http://schemas.openxmlformats.org/officeDocument/2006/relationships/notesSlide" Target="/ppt/notesSlides/notesSlide12.xml" Id="R61c495203ebd4d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9BA2D-6944-45BD-8934-561CF046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Portable QR attendance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4AC19-B480-4B22-AD9A-EB89D11A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browser-based classroom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59EFF-18F5-424F-9E10-8003A15A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Offline preparation, local records and teacher verification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66F40-74C2-442B-85D4-770231F5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2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450757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543FAC-567A-4C4A-B4F6-EBD69166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C27"/>
                </a:solidFill>
                <a:latin typeface="Arial"/>
                <a:ea typeface="Arial"/>
                <a:cs typeface="Arial"/>
              </a:rPr>
              <a:t>Classroom attendance constraints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41FC4-E9B3-4D2E-9F3D-9E1DF1DA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Weak connectivity can interrupt network-dependent workflows.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69506-5A15-47BA-9097-E97A1A1A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Roster transcription and exception handling add teacher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2BCC6-2B75-4FA4-BD66-8E93AD5C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Time savings require a comparable measured baseline.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16FB3-AAB6-4352-887C-3060F79B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2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5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465124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4F075D-5C8A-4591-BEFE-C42C8591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C27"/>
                </a:solidFill>
                <a:latin typeface="Arial"/>
                <a:ea typeface="Arial"/>
                <a:cs typeface="Arial"/>
              </a:rPr>
              <a:t>Browser delivery and 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B7213-7C5C-4270-9DBB-70A0604D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Students and teachers open an HTTPS URL.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F74BE-4F38-4B00-90EE-8620FE52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Cached website resources support prepared offline use.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7283E-3740-4639-9824-5C21B6FC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First access, a changed browser or cleared data needs preparation.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B5959-5470-48B1-AD8F-49E2BE47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2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5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84234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CA97D-40BE-4BDB-BDD2-F51B58AA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C27"/>
                </a:solidFill>
                <a:latin typeface="Arial"/>
                <a:ea typeface="Arial"/>
                <a:cs typeface="Arial"/>
              </a:rPr>
              <a:t>Student check-in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1C4D9-7EE0-4673-8A84-D1E799E4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Confirm the official ID and current room challenge.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8708C-7E0B-4656-8AE2-B3D57FE2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Display the QR with a readable screen.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72899-629F-437B-9B99-7D1C9BBA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Wait for the teacher to confirm the record was saved.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468115-4241-4082-9CD1-CE688ECB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2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5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04401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5DC04-E740-44C2-8479-CF648449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C27"/>
                </a:solidFill>
                <a:latin typeface="Arial"/>
                <a:ea typeface="Arial"/>
                <a:cs typeface="Arial"/>
              </a:rPr>
              <a:t>Local processing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F3591-8292-45E5-9C24-25A0F6C9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Student browser: QR payload with ID, challenge and timestamp.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FB3C25-364B-4A73-918F-A68B0EDB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Teacher browser: roster validation and supervised identity check.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7A850-7E98-409B-8960-21914430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Encrypted IndexedDB: attendance and audit commit together.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2CE40-02F3-47A8-BAA6-01F41434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2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5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182512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82A16-0E9F-4EA3-A0C0-90E953CC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C27"/>
                </a:solidFill>
                <a:latin typeface="Arial"/>
                <a:ea typeface="Arial"/>
                <a:cs typeface="Arial"/>
              </a:rPr>
              <a:t>Security and privacy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D464F-EF6B-4ECA-807E-44269C76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AES-GCM protects stored private records with authenticated context.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97785-DBBC-4919-AA8F-806B1A96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Short numeric PINs remain vulnerable to offline guessing.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40022-41B6-4957-9FE0-A87C5257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QR rotation does not prevent relay or prove physical presence.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0E54B-D00F-4327-AA03-EA38761E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2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5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572681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B8148-BA04-4919-AB98-6C56CDC2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C27"/>
                </a:solidFill>
                <a:latin typeface="Arial"/>
                <a:ea typeface="Arial"/>
                <a:cs typeface="Arial"/>
              </a:rPr>
              <a:t>Classroom exception handling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DA107-A354-4138-A02B-15C3E17A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CSV validation preserves Philippine names and original ID formatting.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AA7FF-843B-488B-930A-12DD34CD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Manual attendance supports unavailable devices and excusals.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FE745-E225-4C8D-8DBB-148C80CA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Dispute review preserves both times and blocks unresolved closure.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328DE-56D3-4864-BB23-09739936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2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5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035800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AB69FD-1CE4-41A1-B66D-BCFA195B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C27"/>
                </a:solidFill>
                <a:latin typeface="Arial"/>
                <a:ea typeface="Arial"/>
                <a:cs typeface="Arial"/>
              </a:rPr>
              <a:t>Validation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72E6E-B6CA-41B1-8072-AF6E55DE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23B32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23B32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23B32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23B32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23B32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23B32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23B32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23B32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23B32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2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23B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3B32"/>
                </a:solidFill>
                <a:latin typeface="Arial"/>
                <a:ea typeface="Arial"/>
                <a:cs typeface="Arial"/>
              </a:rPr>
              <a:t>Automated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D3DFE-AF97-45CD-8BBD-E3F63DDA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28 automated tests passed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0B5D6-142B-4EE7-B787-FB248F9F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Transactions, recovery and exports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EF057-4858-467D-95B5-F4CD81A4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Manual-dialog lifecycle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88379-E13E-4EC3-B42A-0C89DF81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23B32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23B32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23B32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23B32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23B32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23B32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23B32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23B32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23B32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2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23B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3B32"/>
                </a:solidFill>
                <a:latin typeface="Arial"/>
                <a:ea typeface="Arial"/>
                <a:cs typeface="Arial"/>
              </a:rPr>
              <a:t>Field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8A3D6-894B-4F7C-BDFE-3A94B4BA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00375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45-device run: pending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EAC606-26E2-4ECA-8965-E9450262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81425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Physical browser matrix: pending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7135F-C2B7-45BB-808D-950E2D15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62475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Throughput claim: not established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0EED8-1B0B-4F24-9162-EDB77D2E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2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5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906410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168224-B28A-417C-8C39-927026F1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C27"/>
                </a:solidFill>
                <a:latin typeface="Arial"/>
                <a:ea typeface="Arial"/>
                <a:cs typeface="Arial"/>
              </a:rPr>
              <a:t>Reporting and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3BFD8-E39C-43E4-B1E4-1479E3A4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Excel includes attendance summary, roster and audit worksheets.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1E4B0-592B-4745-A287-C0ED89EB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CSV protects formula-looking values and retains Unicode.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CEDB5-A055-4DCD-B0EE-D5A2F2FC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Encrypted backups restore atomically after validation.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DD168-1220-4131-B4BE-D29C7449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2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5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275866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AE91A-FA22-4CF4-BE02-B0B5405B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C27"/>
                </a:solidFill>
                <a:latin typeface="Arial"/>
                <a:ea typeface="Arial"/>
                <a:cs typeface="Arial"/>
              </a:rPr>
              <a:t>Live demonstration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E3C2C-A64F-4028-AA0C-9386F38A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Prepare two browsers and a synthetic roster.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CB928-EAFA-4892-B599-10903A57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Demonstrate a saved scan, manual excusal and disputed duplicate.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85D47-A2EA-4078-93B1-BEC6ED21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Close, reopen with a reason, export and restore a backup.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38275-6BEF-47C8-967B-D2A8A0C7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2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5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099183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C3EF9-F423-431A-A48F-AD996E6E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C27"/>
                </a:solidFill>
                <a:latin typeface="Arial"/>
                <a:ea typeface="Arial"/>
                <a:cs typeface="Arial"/>
              </a:rPr>
              <a:t>Remaining validation and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ADF4D-1597-45DE-BD13-333A0FB0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Physical camera quality, glare and OS suspension need device tests.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2CAB5-BE8A-4EBF-8D6A-FFCD7719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Browser persistence does not replace independent backups.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B760A-4FDA-4B63-A179-29BD019B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Deployment and institutional privacy approval remain release gates.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A36D1-0813-4993-A407-40C88769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2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5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316728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BCA78-0933-4138-B9DD-232EBB4B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C27"/>
                </a:solidFill>
                <a:latin typeface="Arial"/>
                <a:ea typeface="Arial"/>
                <a:cs typeface="Arial"/>
              </a:rPr>
              <a:t>Release criteria and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8900E-2826-4C02-A9FC-7AEC31F8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Verified HTTPS deployment and cold offline use on supported devices.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51E65-3710-499E-AC8D-5AEEC483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Measured classroom results and tested recovery on a second device.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9643E-9ECD-424D-8A0E-C52DDF3E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2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7"/>
                </a:solidFill>
                <a:latin typeface="Arial"/>
                <a:ea typeface="Arial"/>
                <a:cs typeface="Arial"/>
              </a:rPr>
              <a:t>Approved handling, retention and incident procedures.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CCCBE-A193-43A2-94E8-FA475EAD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2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5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599759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2026-10-17T01:19:44.5070000Z</dcterms:created>
  <dcterms:modified xsi:type="dcterms:W3CDTF">2026-10-17T01:19:44.5070000Z</dcterms:modified>
</coreProperties>
</file>